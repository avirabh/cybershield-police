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Signals</c:v>
                </c:pt>
              </c:strCache>
            </c:strRef>
          </c:tx>
          <c:spPr>
            <a:solidFill>
              <a:srgbClr val="22D3E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8FAFC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OTP</c:v>
                </c:pt>
                <c:pt idx="1">
                  <c:v>UPI</c:v>
                </c:pt>
                <c:pt idx="2">
                  <c:v>KYC</c:v>
                </c:pt>
                <c:pt idx="3">
                  <c:v>Phishing</c:v>
                </c:pt>
                <c:pt idx="4">
                  <c:v>Job</c:v>
                </c:pt>
                <c:pt idx="5">
                  <c:v>Loan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</c:v>
                </c:pt>
                <c:pt idx="1">
                  <c:v>78</c:v>
                </c:pt>
                <c:pt idx="2">
                  <c:v>75</c:v>
                </c:pt>
                <c:pt idx="3">
                  <c:v>88</c:v>
                </c:pt>
                <c:pt idx="4">
                  <c:v>62</c:v>
                </c:pt>
                <c:pt idx="5">
                  <c:v>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394-41F2-9163-DE4CDD5ADD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F8FAFC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CD1E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Triage</c:v>
                </c:pt>
              </c:strCache>
            </c:strRef>
          </c:tx>
          <c:dPt>
            <c:idx val="0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1-E2C2-413F-A642-ACAC80C44A05}"/>
              </c:ext>
            </c:extLst>
          </c:dPt>
          <c:dPt>
            <c:idx val="1"/>
            <c:bubble3D val="0"/>
            <c:spPr>
              <a:solidFill>
                <a:srgbClr val="FBBF24"/>
              </a:solidFill>
            </c:spPr>
            <c:extLst>
              <c:ext xmlns:c16="http://schemas.microsoft.com/office/drawing/2014/chart" uri="{C3380CC4-5D6E-409C-BE32-E72D297353CC}">
                <c16:uniqueId val="{00000003-E2C2-413F-A642-ACAC80C44A05}"/>
              </c:ext>
            </c:extLst>
          </c:dPt>
          <c:dPt>
            <c:idx val="2"/>
            <c:bubble3D val="0"/>
            <c:spPr>
              <a:solidFill>
                <a:srgbClr val="3B82F6"/>
              </a:solidFill>
            </c:spPr>
            <c:extLst>
              <c:ext xmlns:c16="http://schemas.microsoft.com/office/drawing/2014/chart" uri="{C3380CC4-5D6E-409C-BE32-E72D297353CC}">
                <c16:uniqueId val="{00000005-E2C2-413F-A642-ACAC80C44A05}"/>
              </c:ext>
            </c:extLst>
          </c:dPt>
          <c:dPt>
            <c:idx val="3"/>
            <c:bubble3D val="0"/>
            <c:spPr>
              <a:solidFill>
                <a:srgbClr val="2DD4BF"/>
              </a:solidFill>
            </c:spPr>
            <c:extLst>
              <c:ext xmlns:c16="http://schemas.microsoft.com/office/drawing/2014/chart" uri="{C3380CC4-5D6E-409C-BE32-E72D297353CC}">
                <c16:uniqueId val="{00000007-E2C2-413F-A642-ACAC80C44A0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28</c:v>
                </c:pt>
                <c:pt idx="2">
                  <c:v>34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C2-413F-A642-ACAC80C44A0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1000">
              <a:solidFill>
                <a:srgbClr val="F8FAFC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Signals</c:v>
                </c:pt>
              </c:strCache>
            </c:strRef>
          </c:tx>
          <c:spPr>
            <a:solidFill>
              <a:srgbClr val="22D3E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8FAFC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OTP</c:v>
                </c:pt>
                <c:pt idx="1">
                  <c:v>UPI</c:v>
                </c:pt>
                <c:pt idx="2">
                  <c:v>KYC</c:v>
                </c:pt>
                <c:pt idx="3">
                  <c:v>Phishing</c:v>
                </c:pt>
                <c:pt idx="4">
                  <c:v>Job</c:v>
                </c:pt>
                <c:pt idx="5">
                  <c:v>Loan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</c:v>
                </c:pt>
                <c:pt idx="1">
                  <c:v>78</c:v>
                </c:pt>
                <c:pt idx="2">
                  <c:v>75</c:v>
                </c:pt>
                <c:pt idx="3">
                  <c:v>88</c:v>
                </c:pt>
                <c:pt idx="4">
                  <c:v>62</c:v>
                </c:pt>
                <c:pt idx="5">
                  <c:v>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E89-4A5B-B9B3-CACC105DB8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F8FAFC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CD1E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PRAKASAM POLICE HACKATHON 2026 - MISSION Y4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CyberShield Police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2D3EE"/>
                </a:solidFill>
                <a:latin typeface="Aptos"/>
              </a:rPr>
              <a:t>AI-powered cybercrime triage for safer digital communities.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2268696"/>
            <a:ext cx="6126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BCD1E7"/>
                </a:solidFill>
                <a:latin typeface="Aptos"/>
              </a:rPr>
              <a:t>Challenge 05 - Cybercrime Detection &amp; Digital Fraud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2743200"/>
            <a:ext cx="2834640" cy="10515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19" y="2852928"/>
            <a:ext cx="59435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2862072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Citizen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3260965"/>
            <a:ext cx="245059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Report, scan, and receive clear guidance before acting.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0" y="2743200"/>
            <a:ext cx="2834640" cy="10515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94760" y="285292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2862072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Police Triage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58768" y="3300296"/>
            <a:ext cx="245059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score, priority, evidence metadata, and summaries.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20840" y="2743200"/>
            <a:ext cx="2834640" cy="10515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57999" y="2852928"/>
            <a:ext cx="54863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3B82F6"/>
                </a:solidFill>
                <a:latin typeface="Apto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79" y="2862072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Threat Intelligence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22007" y="3319960"/>
            <a:ext cx="245059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Hotspots, synthetic indicators, and linked case patterns.</a:t>
            </a:r>
          </a:p>
        </p:txBody>
      </p:sp>
      <p:sp>
        <p:nvSpPr>
          <p:cNvPr id="56" name="Hexagon 55"/>
          <p:cNvSpPr/>
          <p:nvPr/>
        </p:nvSpPr>
        <p:spPr>
          <a:xfrm>
            <a:off x="8823960" y="1234440"/>
            <a:ext cx="2057400" cy="2057400"/>
          </a:xfrm>
          <a:prstGeom prst="hexagon">
            <a:avLst/>
          </a:prstGeom>
          <a:solidFill>
            <a:srgbClr val="075985"/>
          </a:solidFill>
          <a:ln w="3048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35440" y="1773936"/>
            <a:ext cx="11887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8FAFC"/>
                </a:solidFill>
                <a:latin typeface="Aptos"/>
              </a:rPr>
              <a:t>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6108192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Team Lead / Developer: Anubrata Sarker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Problem: Rising Cyber Fraud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dirty="0">
                <a:solidFill>
                  <a:srgbClr val="BCD1E7"/>
                </a:solidFill>
                <a:latin typeface="Aptos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141732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BCD1E7"/>
                </a:solidFill>
                <a:latin typeface="Aptos"/>
              </a:defRPr>
            </a:pPr>
            <a:r>
              <a:t>Scams begin with small signals: SMS, WhatsApp, calls, links, QR codes</a:t>
            </a:r>
          </a:p>
          <a:p>
            <a:pPr>
              <a:spcAft>
                <a:spcPts val="700"/>
              </a:spcAft>
              <a:defRPr sz="2000">
                <a:solidFill>
                  <a:srgbClr val="BCD1E7"/>
                </a:solidFill>
                <a:latin typeface="Aptos"/>
              </a:defRPr>
            </a:pPr>
            <a:r>
              <a:t>Victims are pressured before they can verify</a:t>
            </a:r>
          </a:p>
          <a:p>
            <a:pPr>
              <a:spcAft>
                <a:spcPts val="700"/>
              </a:spcAft>
              <a:defRPr sz="2000">
                <a:solidFill>
                  <a:srgbClr val="BCD1E7"/>
                </a:solidFill>
                <a:latin typeface="Aptos"/>
              </a:defRPr>
            </a:pPr>
            <a:r>
              <a:t>Police receive scattered screenshots and incomplete reports</a:t>
            </a:r>
          </a:p>
          <a:p>
            <a:pPr>
              <a:spcAft>
                <a:spcPts val="700"/>
              </a:spcAft>
              <a:defRPr sz="2000">
                <a:solidFill>
                  <a:srgbClr val="BCD1E7"/>
                </a:solidFill>
                <a:latin typeface="Aptos"/>
              </a:defRPr>
            </a:pPr>
            <a:r>
              <a:t>Time-sensitive fraud needs fast prevention and triage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743066"/>
              </p:ext>
            </p:extLst>
          </p:nvPr>
        </p:nvGraphicFramePr>
        <p:xfrm>
          <a:off x="7452857" y="1191177"/>
          <a:ext cx="47548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685800" y="4983480"/>
            <a:ext cx="10515600" cy="822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" y="509320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5102352"/>
            <a:ext cx="10104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Key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5520912"/>
            <a:ext cx="101315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A useful prototype must help before loss, during reporting, and after police triage.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Why Existing Systems Are Not Enough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1325880"/>
            <a:ext cx="324612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1435607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7185"/>
                </a:solidFill>
                <a:latin typeface="Aptos"/>
              </a:rP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1444752"/>
            <a:ext cx="2834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Reactive 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1892807"/>
            <a:ext cx="286207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Many workflows begin after money or credentials are already lost.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34840" y="1325880"/>
            <a:ext cx="324612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0" y="1435607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79" y="1444752"/>
            <a:ext cx="2834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Link-Only Detection Gap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36007" y="1892807"/>
            <a:ext cx="286207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Plain SMS, calls, Telegram scripts, and OTP requests may have no URL.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1325880"/>
            <a:ext cx="324612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75320" y="1435607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1444752"/>
            <a:ext cx="2834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Manual Triage Load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8" y="1892807"/>
            <a:ext cx="286207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Police need structured priority, category, and evidence context.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286000" y="3246120"/>
            <a:ext cx="246888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126480" y="3246120"/>
            <a:ext cx="242316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14400" y="3977639"/>
            <a:ext cx="996696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1560" y="408736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4096511"/>
            <a:ext cx="9555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CyberShield Response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" y="4544568"/>
            <a:ext cx="958291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Prevention-first citizen guidance plus explainable police triage in a single local prototype.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Our Solution: CyberShield Police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3258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Unified citizen + police cyber safety platform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Explainable risk score from 0 to 100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Scam category, confidence, matched rules, and triage priority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Gemini / multi-provider AI explanations with Local Safety Mode fallback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Synthetic-data-only ethical prototype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1371600"/>
            <a:ext cx="201168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14813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1490472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Message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1820544"/>
            <a:ext cx="162763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signals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32520" y="1371600"/>
            <a:ext cx="201168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69680" y="14813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1490472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URL/UPI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33688" y="1830376"/>
            <a:ext cx="162763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signals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2423160"/>
            <a:ext cx="201168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37960" y="253288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2542032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Transaction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1968" y="2901600"/>
            <a:ext cx="162763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signals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32520" y="2423160"/>
            <a:ext cx="201168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69680" y="253288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2542032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33688" y="2872101"/>
            <a:ext cx="162763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signals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3474720"/>
            <a:ext cx="201168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358444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7185"/>
                </a:solidFill>
                <a:latin typeface="Aptos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3593591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Hotspot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1968" y="3933496"/>
            <a:ext cx="162763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signals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754880"/>
            <a:ext cx="4389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Aptos"/>
              </a:rPr>
              <a:t>Local detector is authoritative. AI only refines explanation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Five Core Modules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1828800"/>
            <a:ext cx="1993392" cy="1965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7296" y="1977168"/>
            <a:ext cx="1581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8FAFC"/>
                </a:solidFill>
                <a:latin typeface="Aptos"/>
              </a:rPr>
              <a:t>Citizen 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2395728"/>
            <a:ext cx="160934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Tracking ID, evidence metadata, safety guidance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53512" y="1828800"/>
            <a:ext cx="1993392" cy="1965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90672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02152" y="1947672"/>
            <a:ext cx="1581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URL/UPI Validator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2395728"/>
            <a:ext cx="160934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Phishing, lookalike, UPI and message checks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21224" y="1828800"/>
            <a:ext cx="1993392" cy="1965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58384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9864" y="1947672"/>
            <a:ext cx="1581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Transaction Anomaly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22392" y="2395728"/>
            <a:ext cx="160934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Refund scams, fees, QR traps, repeated payments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88936" y="1828800"/>
            <a:ext cx="1993392" cy="1965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26096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37576" y="1947672"/>
            <a:ext cx="1581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Threat Intelligence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0104" y="2395728"/>
            <a:ext cx="160934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Hotspots, indicators, clusters, trend stream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756648" y="1828800"/>
            <a:ext cx="1993392" cy="1965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893808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7185"/>
                </a:solidFill>
                <a:latin typeface="Aptos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05288" y="1947672"/>
            <a:ext cx="1581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Police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57816" y="2395728"/>
            <a:ext cx="160934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Priority queue, case details, summaries, export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480060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One connected workflow, not separate demo screens.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System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1508760"/>
            <a:ext cx="1920240" cy="91440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16276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React + Vite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2075688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063240" y="1508760"/>
            <a:ext cx="1920240" cy="91440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64408" y="16276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FastAPI Routes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64408" y="2075688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394960" y="1508760"/>
            <a:ext cx="1920240" cy="91440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596128" y="16276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Detection Engines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2075688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726679" y="1508760"/>
            <a:ext cx="1920240" cy="91440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27848" y="16276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SQLite + Synthetic 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27848" y="2075688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464040" y="4069080"/>
            <a:ext cx="1920240" cy="91440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65208" y="4187952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Dashboards + Export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65208" y="4636008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cxnSp>
        <p:nvCxnSpPr>
          <p:cNvPr id="57" name="Connector 56"/>
          <p:cNvCxnSpPr/>
          <p:nvPr/>
        </p:nvCxnSpPr>
        <p:spPr>
          <a:xfrm>
            <a:off x="2651760" y="1965960"/>
            <a:ext cx="41148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983480" y="1965960"/>
            <a:ext cx="41148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315200" y="1965960"/>
            <a:ext cx="411479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686800" y="2514600"/>
            <a:ext cx="1097280" cy="155448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60120" y="3886200"/>
            <a:ext cx="7040880" cy="9601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97280" y="39959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08760" y="4005072"/>
            <a:ext cx="6629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Optional AI Provider Layer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1288" y="4453128"/>
            <a:ext cx="665683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Gemini, OpenRouter, Groq, Hugging Face, or Local Safety Mode. API keys stay backend-only.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5120640" y="2514600"/>
            <a:ext cx="274320" cy="137160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AI Scam + Phishing + Screenshot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132588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t>Text-only, URL-only, metadata-only, and hybrid detection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t>OTP/PIN/CVV/password, KYC threats, UPI refunds, fake jobs, loans, QR scams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t>Trusted-domain safeguards for false-positive prevention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t>Screenshot analyzer uses metadata + pasted visible text, not private image storage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165608"/>
              </p:ext>
            </p:extLst>
          </p:nvPr>
        </p:nvGraphicFramePr>
        <p:xfrm>
          <a:off x="7285025" y="1389889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914400" y="5029200"/>
            <a:ext cx="1014984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1560" y="51389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5148072"/>
            <a:ext cx="9738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Explainable 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" y="5468308"/>
            <a:ext cx="976579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score • Risk level • Category • Confidence • Matched patterns • Police triage priority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CyberDost + Multilingual Citizen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1325880"/>
            <a:ext cx="3749039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1194" y="1435607"/>
            <a:ext cx="73151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2D3EE"/>
                </a:solidFill>
                <a:latin typeface="Aptos"/>
              </a:rPr>
              <a:t>BOT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1444752"/>
            <a:ext cx="33375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CyberDost Chatbot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1892807"/>
            <a:ext cx="336499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Practical, calm safety guidance with quick actions for UPI, phishing, digital arrest, reporting, and 1930.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1325880"/>
            <a:ext cx="310896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85966" y="1435607"/>
            <a:ext cx="123444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DD4BF"/>
                </a:solidFill>
                <a:latin typeface="Aptos"/>
              </a:rPr>
              <a:t>LANG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77551" y="1444752"/>
            <a:ext cx="26974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8FAFC"/>
                </a:solidFill>
                <a:latin typeface="Aptos"/>
              </a:rPr>
              <a:t>Language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64607" y="1892807"/>
            <a:ext cx="272491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English, Telugu, Hindi, Bengali, Tamil, Kannada, Malayalam, Marathi.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79" y="1325880"/>
            <a:ext cx="333756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92440" y="1435607"/>
            <a:ext cx="72266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FBBF24"/>
                </a:solidFill>
                <a:latin typeface="Aptos"/>
              </a:rPr>
              <a:t>SAFE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8384" y="1444752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8FAFC"/>
                </a:solidFill>
                <a:latin typeface="Aptos"/>
              </a:rPr>
              <a:t>Local Safety Mode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6448" y="1892807"/>
            <a:ext cx="295351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Guidance continues even when AI provider keys are absent or busy.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755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EN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4028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1343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6616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3931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HI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9204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6519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BN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9107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4380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61695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KN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6968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4283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ML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9556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26871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MR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4800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Citizen-first design: prevention guidance before money, OTP, or credentials are shared.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Transaction Monitoring + Hotspot Intelligence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09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822960" y="1325880"/>
          <a:ext cx="47548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014882" y="132588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rPr dirty="0"/>
              <a:t>Fake refund and chargeback patterns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rPr dirty="0"/>
              <a:t>Loan processing fee and prize fee traps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rPr dirty="0"/>
              <a:t>Job registration fees and first-time receivers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rPr dirty="0"/>
              <a:t>Late-night transfers, repeated small payments, senior/student context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rPr dirty="0"/>
              <a:t>Prakasam/AP synthetic hotspot and threat stream analytics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4892040"/>
            <a:ext cx="10424160" cy="7772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0119" y="4972272"/>
            <a:ext cx="594355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DD4BF"/>
                </a:solidFill>
                <a:latin typeface="Aptos"/>
              </a:rPr>
              <a:t>SP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5010912"/>
            <a:ext cx="10012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Admin/SP 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" y="5350816"/>
            <a:ext cx="10040112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High-risk transaction count, synthetic monitored amount, hotspot trend, and priority locations.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Police Workflow: Report → Analyze → Triage → Investigate → Warn Public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1828800"/>
            <a:ext cx="1874519" cy="15087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1947672"/>
            <a:ext cx="1463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2395728"/>
            <a:ext cx="149047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Citizen submits message, URL, transaction, evidence metadata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432304" y="2578608"/>
            <a:ext cx="329184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2834640" y="1828800"/>
            <a:ext cx="1874519" cy="15087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7180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1947672"/>
            <a:ext cx="1463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35808" y="2395728"/>
            <a:ext cx="149047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Detector scores risk and extracts factors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718304" y="2578608"/>
            <a:ext cx="329184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120640" y="1828800"/>
            <a:ext cx="1874519" cy="15087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5780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79" y="1947672"/>
            <a:ext cx="1463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Triage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21807" y="2395728"/>
            <a:ext cx="149047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Priority and police summary generated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004304" y="2578608"/>
            <a:ext cx="329184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406640" y="1828800"/>
            <a:ext cx="1874519" cy="15087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4380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80" y="1947672"/>
            <a:ext cx="1463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Investigate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07808" y="2395728"/>
            <a:ext cx="149047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Officer updates status and notes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290304" y="2578608"/>
            <a:ext cx="329184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692640" y="1828800"/>
            <a:ext cx="1874519" cy="15087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82980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7185"/>
                </a:solidFill>
                <a:latin typeface="Aptos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1947672"/>
            <a:ext cx="1463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Warn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93808" y="2395728"/>
            <a:ext cx="149047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Hotspot/threat insights support awareness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4400" y="4663440"/>
            <a:ext cx="10149840" cy="822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5248" y="4773168"/>
            <a:ext cx="8385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2D3EE"/>
                </a:solidFill>
                <a:latin typeface="Aptos"/>
              </a:rPr>
              <a:t>OPS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63040" y="4782312"/>
            <a:ext cx="9738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Operational Value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5568" y="5171376"/>
            <a:ext cx="9765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Structured cases, evidence metadata, FIR-style summary aid, PDF export, and dashboard 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Practical Impact, Scalability, Privacy &amp; Ethics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11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1371600"/>
            <a:ext cx="320040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14813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1490472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1938528"/>
            <a:ext cx="281635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Prevents fraud earlier and helps citizens choose safe next steps.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60" y="1371600"/>
            <a:ext cx="320040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17720" y="14813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1490472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Scalability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1938528"/>
            <a:ext cx="281635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Can move to PostgreSQL, queues, OCR, audit logs, and official integrations.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1371600"/>
            <a:ext cx="320040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66760" y="14813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1490472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Ethics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8" y="1938528"/>
            <a:ext cx="281635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Synthetic data only. No real victim data, police data, UPI IDs, or private screenshots.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3657600"/>
            <a:ext cx="9966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Local-first prototype runs without paid APIs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AI does not override risk score or category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Backend-only keys; .env ignored by Git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Translations are demo-level and should be reviewed before real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Future Scope + Team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12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1417320"/>
            <a:ext cx="4754880" cy="9601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152704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1536192"/>
            <a:ext cx="4343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Official Integrations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" y="1984248"/>
            <a:ext cx="437083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1930 / cybercrime portal workflows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59" y="1417320"/>
            <a:ext cx="4754880" cy="9601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152704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399" y="1536192"/>
            <a:ext cx="4343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Secure Evidence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1927" y="1984248"/>
            <a:ext cx="437083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Consent-based OCR and evidence vault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2880360"/>
            <a:ext cx="4754880" cy="9601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4400" y="299008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5880" y="2999232"/>
            <a:ext cx="4343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District Intelligence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" y="3447288"/>
            <a:ext cx="437083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Cross-district clustering and heatmaps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80759" y="2880360"/>
            <a:ext cx="4754880" cy="9601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0" y="299008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399" y="2999232"/>
            <a:ext cx="4343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Production Governance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81927" y="3447288"/>
            <a:ext cx="437083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Audit logs, RBAC, native-language review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97280" y="4892040"/>
            <a:ext cx="9784080" cy="822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234438" y="5001768"/>
            <a:ext cx="82295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2D3EE"/>
                </a:solidFill>
                <a:latin typeface="Aptos"/>
              </a:rPr>
              <a:t>TEAM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09713" y="5040408"/>
            <a:ext cx="9372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400" b="1" dirty="0">
                <a:solidFill>
                  <a:srgbClr val="F8FAFC"/>
                </a:solidFill>
                <a:latin typeface="Aptos"/>
              </a:rPr>
              <a:t>TRILUX</a:t>
            </a:r>
            <a:endParaRPr sz="14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98448" y="5399976"/>
            <a:ext cx="940003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Team Lead / Developer: Anubrata Sarker • Member 2: </a:t>
            </a:r>
            <a:r>
              <a:rPr lang="en-IN" sz="1100" dirty="0">
                <a:solidFill>
                  <a:srgbClr val="BCD1E7"/>
                </a:solidFill>
                <a:latin typeface="Aptos"/>
              </a:rPr>
              <a:t>Arkaprabha De</a:t>
            </a:r>
            <a:r>
              <a:rPr sz="1100" b="0" dirty="0">
                <a:solidFill>
                  <a:srgbClr val="BCD1E7"/>
                </a:solidFill>
                <a:latin typeface="Aptos"/>
              </a:rPr>
              <a:t> • Member 3: </a:t>
            </a:r>
            <a:r>
              <a:rPr lang="en-IN" sz="1100" dirty="0">
                <a:solidFill>
                  <a:srgbClr val="BCD1E7"/>
                </a:solidFill>
                <a:latin typeface="Aptos"/>
              </a:rPr>
              <a:t>Abhirup Goutam</a:t>
            </a:r>
            <a:endParaRPr sz="1100" b="0" dirty="0">
              <a:solidFill>
                <a:srgbClr val="BCD1E7"/>
              </a:solidFill>
              <a:latin typeface="Apto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CyberShield Police: prevention-first, explainable, ethical, and demo-ready.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896</Words>
  <Application>Microsoft Office PowerPoint</Application>
  <PresentationFormat>Widescreen</PresentationFormat>
  <Paragraphs>196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Anubrata Sarker</cp:lastModifiedBy>
  <cp:revision>4</cp:revision>
  <dcterms:created xsi:type="dcterms:W3CDTF">2013-01-27T09:14:16Z</dcterms:created>
  <dcterms:modified xsi:type="dcterms:W3CDTF">2026-06-24T06:55:40Z</dcterms:modified>
  <cp:category/>
</cp:coreProperties>
</file>