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Signals</c:v>
                </c:pt>
              </c:strCache>
            </c:strRef>
          </c:tx>
          <c:spPr>
            <a:solidFill>
              <a:srgbClr val="22D3E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8FAF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OTP</c:v>
                </c:pt>
                <c:pt idx="1">
                  <c:v>UPI</c:v>
                </c:pt>
                <c:pt idx="2">
                  <c:v>KYC</c:v>
                </c:pt>
                <c:pt idx="3">
                  <c:v>Phishing</c:v>
                </c:pt>
                <c:pt idx="4">
                  <c:v>Job</c:v>
                </c:pt>
                <c:pt idx="5">
                  <c:v>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78</c:v>
                </c:pt>
                <c:pt idx="2">
                  <c:v>75</c:v>
                </c:pt>
                <c:pt idx="3">
                  <c:v>88</c:v>
                </c:pt>
                <c:pt idx="4">
                  <c:v>62</c:v>
                </c:pt>
                <c:pt idx="5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394-41F2-9163-DE4CDD5ADD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8FAF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CD1E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Triage</c:v>
                </c:pt>
              </c:strCache>
            </c:strRef>
          </c:tx>
          <c:dPt>
            <c:idx val="0"/>
            <c:bubble3D val="0"/>
            <c:spPr>
              <a:solidFill>
                <a:srgbClr val="FB7185"/>
              </a:solidFill>
            </c:spPr>
            <c:extLst>
              <c:ext xmlns:c16="http://schemas.microsoft.com/office/drawing/2014/chart" uri="{C3380CC4-5D6E-409C-BE32-E72D297353CC}">
                <c16:uniqueId val="{00000001-E2C2-413F-A642-ACAC80C44A05}"/>
              </c:ext>
            </c:extLst>
          </c:dPt>
          <c:dPt>
            <c:idx val="1"/>
            <c:bubble3D val="0"/>
            <c:spPr>
              <a:solidFill>
                <a:srgbClr val="FBBF24"/>
              </a:solidFill>
            </c:spPr>
            <c:extLst>
              <c:ext xmlns:c16="http://schemas.microsoft.com/office/drawing/2014/chart" uri="{C3380CC4-5D6E-409C-BE32-E72D297353CC}">
                <c16:uniqueId val="{00000003-E2C2-413F-A642-ACAC80C44A05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</c:spPr>
            <c:extLst>
              <c:ext xmlns:c16="http://schemas.microsoft.com/office/drawing/2014/chart" uri="{C3380CC4-5D6E-409C-BE32-E72D297353CC}">
                <c16:uniqueId val="{00000005-E2C2-413F-A642-ACAC80C44A05}"/>
              </c:ext>
            </c:extLst>
          </c:dPt>
          <c:dPt>
            <c:idx val="3"/>
            <c:bubble3D val="0"/>
            <c:spPr>
              <a:solidFill>
                <a:srgbClr val="2DD4BF"/>
              </a:solidFill>
            </c:spPr>
            <c:extLst>
              <c:ext xmlns:c16="http://schemas.microsoft.com/office/drawing/2014/chart" uri="{C3380CC4-5D6E-409C-BE32-E72D297353CC}">
                <c16:uniqueId val="{00000007-E2C2-413F-A642-ACAC80C44A0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28</c:v>
                </c:pt>
                <c:pt idx="2">
                  <c:v>34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C2-413F-A642-ACAC80C44A0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overlay val="0"/>
      <c:txPr>
        <a:bodyPr/>
        <a:lstStyle/>
        <a:p>
          <a:pPr>
            <a:defRPr sz="1000">
              <a:solidFill>
                <a:srgbClr val="F8FAFC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Signals</c:v>
                </c:pt>
              </c:strCache>
            </c:strRef>
          </c:tx>
          <c:spPr>
            <a:solidFill>
              <a:srgbClr val="22D3E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>
                    <a:solidFill>
                      <a:srgbClr val="F8FAFC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OTP</c:v>
                </c:pt>
                <c:pt idx="1">
                  <c:v>UPI</c:v>
                </c:pt>
                <c:pt idx="2">
                  <c:v>KYC</c:v>
                </c:pt>
                <c:pt idx="3">
                  <c:v>Phishing</c:v>
                </c:pt>
                <c:pt idx="4">
                  <c:v>Job</c:v>
                </c:pt>
                <c:pt idx="5">
                  <c:v>Loan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</c:v>
                </c:pt>
                <c:pt idx="1">
                  <c:v>78</c:v>
                </c:pt>
                <c:pt idx="2">
                  <c:v>75</c:v>
                </c:pt>
                <c:pt idx="3">
                  <c:v>88</c:v>
                </c:pt>
                <c:pt idx="4">
                  <c:v>62</c:v>
                </c:pt>
                <c:pt idx="5">
                  <c:v>66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E89-4A5B-B9B3-CACC105DB8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8FAFC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CD1E7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PRAKASAM POLICE HACKATHON 2026 - MISSION Y4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CyberShield Police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2D3EE"/>
                </a:solidFill>
                <a:latin typeface="Aptos"/>
              </a:rPr>
              <a:t>AI-powered cybercrime triage for safer digital communities.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2268696"/>
            <a:ext cx="6126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BCD1E7"/>
                </a:solidFill>
                <a:latin typeface="Aptos"/>
              </a:rPr>
              <a:t>Challenge 05 - Cybercrime Detection &amp; Digital Fraud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2743200"/>
            <a:ext cx="2834640" cy="10515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1519" y="2852928"/>
            <a:ext cx="594359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DD4BF"/>
                </a:solidFill>
                <a:latin typeface="Aptos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" y="286207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Citizen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8" y="3260965"/>
            <a:ext cx="245059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Report, scan, and receive clear guidance before acting.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657600" y="2743200"/>
            <a:ext cx="2834640" cy="10515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94760" y="2852928"/>
            <a:ext cx="5029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0" y="286207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Police Triage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58768" y="3300296"/>
            <a:ext cx="245059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score, priority, evidence metadata, and summaries.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0840" y="2743200"/>
            <a:ext cx="2834640" cy="10515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7999" y="2852928"/>
            <a:ext cx="54863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3B82F6"/>
                </a:solidFill>
                <a:latin typeface="Aptos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79" y="2862072"/>
            <a:ext cx="2423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Threat Intelligence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22007" y="3319960"/>
            <a:ext cx="2450592" cy="3931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Hotspots, synthetic indicators, and linked case patterns.</a:t>
            </a:r>
          </a:p>
        </p:txBody>
      </p:sp>
      <p:sp>
        <p:nvSpPr>
          <p:cNvPr id="56" name="Hexagon 55"/>
          <p:cNvSpPr/>
          <p:nvPr/>
        </p:nvSpPr>
        <p:spPr>
          <a:xfrm>
            <a:off x="8823960" y="1234440"/>
            <a:ext cx="2057400" cy="2057400"/>
          </a:xfrm>
          <a:prstGeom prst="hexagon">
            <a:avLst/>
          </a:prstGeom>
          <a:solidFill>
            <a:srgbClr val="075985"/>
          </a:solidFill>
          <a:ln w="3048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235440" y="1773936"/>
            <a:ext cx="11887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F8FAFC"/>
                </a:solidFill>
                <a:latin typeface="Aptos"/>
              </a:rPr>
              <a:t>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" y="6108192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Team Lead / Developer: Anubrata Sarker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Problem: Rising Cyber Fraud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dirty="0">
                <a:solidFill>
                  <a:srgbClr val="BCD1E7"/>
                </a:solidFill>
                <a:latin typeface="Aptos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417320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Scams begin with small signals: SMS, WhatsApp, calls, links, QR codes</a:t>
            </a:r>
          </a:p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Victims are pressured before they can verify</a:t>
            </a:r>
          </a:p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Police receive scattered screenshots and incomplete reports</a:t>
            </a:r>
          </a:p>
          <a:p>
            <a:pPr>
              <a:spcAft>
                <a:spcPts val="700"/>
              </a:spcAft>
              <a:defRPr sz="2000">
                <a:solidFill>
                  <a:srgbClr val="BCD1E7"/>
                </a:solidFill>
                <a:latin typeface="Aptos"/>
              </a:defRPr>
            </a:pPr>
            <a:r>
              <a:t>Time-sensitive fraud needs fast prevention and triage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743066"/>
              </p:ext>
            </p:extLst>
          </p:nvPr>
        </p:nvGraphicFramePr>
        <p:xfrm>
          <a:off x="7452857" y="1191177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685800" y="4983480"/>
            <a:ext cx="10515600" cy="822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09320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102352"/>
            <a:ext cx="10104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Key Insight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" y="5520912"/>
            <a:ext cx="101315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A useful prototype must help before loss, during reporting, and after police triage.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Why Existing Systems Are Not Enough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325880"/>
            <a:ext cx="324612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1435607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1444752"/>
            <a:ext cx="2834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Reactive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892807"/>
            <a:ext cx="28620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Many workflows begin after money or credentials are already lost.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34840" y="1325880"/>
            <a:ext cx="324612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0" y="1435607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79" y="1444752"/>
            <a:ext cx="2834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Link-Only Detection Gap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36007" y="1892807"/>
            <a:ext cx="28620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Plain SMS, calls, Telegram scripts, and OTP requests may have no URL.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38160" y="1325880"/>
            <a:ext cx="324612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275320" y="1435607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1444752"/>
            <a:ext cx="2834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Manual Triage Load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8" y="1892807"/>
            <a:ext cx="286207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Police need structured priority, category, and evidence context.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286000" y="3246120"/>
            <a:ext cx="24688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126480" y="3246120"/>
            <a:ext cx="242316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14400" y="3977639"/>
            <a:ext cx="996696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1560" y="408736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4096511"/>
            <a:ext cx="9555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CyberShield Response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" y="4544568"/>
            <a:ext cx="95829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Prevention-first citizen guidance plus explainable police triage in a single local prototype.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Our Solution: CyberShield Police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13258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Unified citizen + police cyber safety platform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Explainable risk score from 0 to 100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Scam category, confidence, matched rules, and triage priority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Gemini / multi-provider AI explanations with Local Safety Mode fallback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Synthetic-data-only ethical prototype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137160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149047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Message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1968" y="1820544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32520" y="137160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6968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149047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URL/UPI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33688" y="1830376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242316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25328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54203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Transaction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1968" y="2901600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0" y="242316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869680" y="25328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81160" y="2542032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Case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33688" y="2872101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00800" y="3474720"/>
            <a:ext cx="201168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37960" y="358444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3593591"/>
            <a:ext cx="1600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Hotspot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01968" y="3933496"/>
            <a:ext cx="162763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signals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4754880"/>
            <a:ext cx="4389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2D3EE"/>
                </a:solidFill>
                <a:latin typeface="Aptos"/>
              </a:rPr>
              <a:t>Local detector is authoritative. AI only refines explanation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cxnSpLocks/>
          </p:cNvCxnSpPr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Five Core Modules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7296" y="1977168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Citizen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Tracking ID, evidence metadata, safety guidance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53512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090672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02152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URL/UPI Validator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Phishing, lookalike, UPI and message checks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221224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358384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69864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Transaction Anomaly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22392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Refund scams, fees, QR traps, repeated payments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88936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26096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37576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Threat Intelligence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90104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Hotspots, indicators, clusters, trend stream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56648" y="1828800"/>
            <a:ext cx="1993392" cy="1965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93808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05288" y="1947672"/>
            <a:ext cx="158191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Police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57816" y="2395728"/>
            <a:ext cx="1609344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Priority queue, case details, summaries, export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800600"/>
            <a:ext cx="10149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One connected workflow, not separate demo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System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React + Vite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3063240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6440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FastAPI Routes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6440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394960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59612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Detection Engines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9612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7726679" y="150876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27848" y="1627631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SQLite + Synthetic Data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27848" y="207568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9464040" y="4069080"/>
            <a:ext cx="1920240" cy="91440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65208" y="4187952"/>
            <a:ext cx="1508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Dashboards + Export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65208" y="4636008"/>
            <a:ext cx="1536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2651760" y="1965960"/>
            <a:ext cx="4114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4983480" y="1965960"/>
            <a:ext cx="411480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315200" y="1965960"/>
            <a:ext cx="411479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686800" y="2514600"/>
            <a:ext cx="1097280" cy="155448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60120" y="3886200"/>
            <a:ext cx="7040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97280" y="39959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508760" y="4005072"/>
            <a:ext cx="6629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Optional AI Provider Layer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61288" y="4453128"/>
            <a:ext cx="6656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Gemini, OpenRouter, Groq, Hugging Face, or Local Safety Mode. API keys stay backend-only.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5120640" y="2514600"/>
            <a:ext cx="274320" cy="137160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AI Scam + Phishing + Screenshot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132588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Text-only, URL-only, metadata-only, and hybrid detection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OTP/PIN/CVV/password, KYC threats, UPI refunds, fake jobs, loans, QR scams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Trusted-domain safeguards for false-positive prevention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t>Screenshot analyzer uses metadata + pasted visible text, not private image storage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65608"/>
              </p:ext>
            </p:extLst>
          </p:nvPr>
        </p:nvGraphicFramePr>
        <p:xfrm>
          <a:off x="7285025" y="1389889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914400" y="5029200"/>
            <a:ext cx="10149840" cy="7315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51560" y="51389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5148072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Explainable Output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" y="5468308"/>
            <a:ext cx="9765792" cy="73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Risk score • Risk level • Category • Confidence • Matched patterns • Police triage priority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CyberDost + Multilingual Citizen Support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325880"/>
            <a:ext cx="3749039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1194" y="1435607"/>
            <a:ext cx="731517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BOT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1444752"/>
            <a:ext cx="333755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CyberDost Chatbot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892807"/>
            <a:ext cx="3364991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Practical, calm safety guidance with quick actions for UPI, phishing, digital arrest, reporting, and 1930.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1325880"/>
            <a:ext cx="310896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5966" y="1435607"/>
            <a:ext cx="1234441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DD4BF"/>
                </a:solidFill>
                <a:latin typeface="Aptos"/>
              </a:rPr>
              <a:t>LANG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77551" y="1444752"/>
            <a:ext cx="26974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Language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4607" y="1892807"/>
            <a:ext cx="27249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English, Telugu, Hindi, Bengali, Tamil, Kannada, Malayalam, Marathi.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5279" y="1325880"/>
            <a:ext cx="333756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2440" y="1435607"/>
            <a:ext cx="72266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BBF24"/>
                </a:solidFill>
                <a:latin typeface="Aptos"/>
              </a:rPr>
              <a:t>SAFE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28384" y="1444752"/>
            <a:ext cx="292607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C"/>
                </a:solidFill>
                <a:latin typeface="Aptos"/>
              </a:rPr>
              <a:t>Local Safety Mode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6448" y="1892807"/>
            <a:ext cx="295351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Guidance continues even when AI provider keys are absent or busy.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755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EN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24028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31343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TE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56616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63931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HI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9204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6519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BN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1792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9107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TA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54380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61695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KN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968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4283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ML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195560" y="3794760"/>
            <a:ext cx="777240" cy="329184"/>
          </a:xfrm>
          <a:prstGeom prst="roundRect">
            <a:avLst/>
          </a:prstGeom>
          <a:solidFill>
            <a:srgbClr val="072F4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268712" y="3867912"/>
            <a:ext cx="6309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F8FAFC"/>
                </a:solidFill>
                <a:latin typeface="Aptos"/>
              </a:rPr>
              <a:t>MR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8FAFC"/>
                </a:solidFill>
                <a:latin typeface="Aptos"/>
              </a:rPr>
              <a:t>Citizen-first design: prevention guidance before money, OTP, or credentials are shared.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Transaction Monitoring + Hotspot Intelligence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09</a:t>
            </a:r>
          </a:p>
        </p:txBody>
      </p:sp>
      <p:graphicFrame>
        <p:nvGraphicFramePr>
          <p:cNvPr id="42" name="Chart 41"/>
          <p:cNvGraphicFramePr>
            <a:graphicFrameLocks noGrp="1"/>
          </p:cNvGraphicFramePr>
          <p:nvPr/>
        </p:nvGraphicFramePr>
        <p:xfrm>
          <a:off x="822960" y="1325880"/>
          <a:ext cx="47548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014882" y="13258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Fake refund and chargeback patterns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Loan processing fee and prize fee traps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Job registration fees and first-time receivers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Late-night transfers, repeated small payments, senior/student context</a:t>
            </a:r>
          </a:p>
          <a:p>
            <a:pPr>
              <a:spcAft>
                <a:spcPts val="700"/>
              </a:spcAft>
              <a:defRPr sz="1700">
                <a:solidFill>
                  <a:srgbClr val="BCD1E7"/>
                </a:solidFill>
                <a:latin typeface="Aptos"/>
              </a:defRPr>
            </a:pPr>
            <a:r>
              <a:rPr dirty="0"/>
              <a:t>Prakasam/AP synthetic hotspot and threat stream analytics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4892040"/>
            <a:ext cx="10424160" cy="7772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19" y="4972272"/>
            <a:ext cx="594355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DD4BF"/>
                </a:solidFill>
                <a:latin typeface="Aptos"/>
              </a:rPr>
              <a:t>SP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010912"/>
            <a:ext cx="10012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Admin/SP 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" y="5350816"/>
            <a:ext cx="10040112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High-risk transaction count, synthetic monitored amount, hotspot trend, and priority locations.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Police Workflow: Report → Analyze → Triage → Investigate → Warn Public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10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Citizen submits message, URL, transaction, evidence metadata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432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2834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971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35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Detector scores risk and extracts factors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718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5120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57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79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Triage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1807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Priority and police summary generated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004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7406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543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Investigate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07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Officer updates status and notes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290304" y="2578608"/>
            <a:ext cx="329184" cy="0"/>
          </a:xfrm>
          <a:prstGeom prst="line">
            <a:avLst/>
          </a:prstGeom>
          <a:ln w="2794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92640" y="1828800"/>
            <a:ext cx="1874519" cy="15087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71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29800" y="19385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7185"/>
                </a:solidFill>
                <a:latin typeface="Aptos"/>
              </a:rPr>
              <a:t>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1947672"/>
            <a:ext cx="14630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Warn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93808" y="2395728"/>
            <a:ext cx="1490472" cy="850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Hotspot/threat insights support awareness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14400" y="4663440"/>
            <a:ext cx="10149840" cy="822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35248" y="4773168"/>
            <a:ext cx="838504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OPS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3040" y="4782312"/>
            <a:ext cx="9738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Operational Value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5568" y="5171376"/>
            <a:ext cx="97657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Structured cases, evidence metadata, FIR-style summary aid, PDF export, and dashboard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Practical Impact, Scalability, Privacy &amp; Ethics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11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1371600"/>
            <a:ext cx="320040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1490472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Impact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938528"/>
            <a:ext cx="281635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Prevents fraud earlier and helps citizens choose safe next steps.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1371600"/>
            <a:ext cx="320040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1772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1490472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Scalability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1938528"/>
            <a:ext cx="281635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Can move to PostgreSQL, queues, OCR, audit logs, and official integrations.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1371600"/>
            <a:ext cx="3200400" cy="123444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66760" y="148132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1490472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Ethics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0768" y="1938528"/>
            <a:ext cx="2816352" cy="576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Synthetic data only. No real victim data, police data, UPI IDs, or private screenshots.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3657600"/>
            <a:ext cx="9966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Local-first prototype runs without paid APIs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AI does not override risk score or category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Backend-only keys; .env ignored by Git</a:t>
            </a:r>
          </a:p>
          <a:p>
            <a:pPr>
              <a:spcAft>
                <a:spcPts val="700"/>
              </a:spcAft>
              <a:defRPr sz="1800">
                <a:solidFill>
                  <a:srgbClr val="BCD1E7"/>
                </a:solidFill>
                <a:latin typeface="Aptos"/>
              </a:defRPr>
            </a:pPr>
            <a:r>
              <a:t>Translations are demo-level and should be reviewed before real deployment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2023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7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809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9611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8135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61519" y="0"/>
            <a:ext cx="0" cy="685800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5029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0" y="10058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15087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0" y="20116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25146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30175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40233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45262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502920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553212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0" y="603504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0" y="653796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0" y="7040880"/>
            <a:ext cx="12191695" cy="0"/>
          </a:xfrm>
          <a:prstGeom prst="line">
            <a:avLst/>
          </a:prstGeom>
          <a:ln w="6350">
            <a:solidFill>
              <a:srgbClr val="194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8686800" y="-1188720"/>
            <a:ext cx="4389120" cy="43891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29260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22D3EE"/>
                </a:solidFill>
                <a:latin typeface="Aptos"/>
              </a:rPr>
              <a:t>CYBERSHIELD POLICE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21792"/>
            <a:ext cx="8412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Future Scope + Team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92840" y="347472"/>
            <a:ext cx="38404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BCD1E7"/>
                </a:solidFill>
                <a:latin typeface="Aptos"/>
              </a:rPr>
              <a:t>12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141732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152704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2D3EE"/>
                </a:solidFill>
                <a:latin typeface="Aptos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153619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Official Integrations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198424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1930 / cybercrime portal workflows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59" y="141732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152704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DD4BF"/>
                </a:solidFill>
                <a:latin typeface="Aptos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399" y="153619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Secure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7" y="198424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Consent-based OCR and evidence vault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" y="288036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14400" y="29900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B82F6"/>
                </a:solidFill>
                <a:latin typeface="Aptos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299923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District Intelligence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8408" y="344728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Cross-district clustering and heatmaps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80759" y="2880360"/>
            <a:ext cx="4754880" cy="96012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17920" y="2990088"/>
            <a:ext cx="411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Aptos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399" y="2999232"/>
            <a:ext cx="4343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Production Governance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81927" y="3447288"/>
            <a:ext cx="4370832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CD1E7"/>
                </a:solidFill>
                <a:latin typeface="Aptos"/>
              </a:rPr>
              <a:t>Audit logs, RBAC, native-language review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7280" y="4892040"/>
            <a:ext cx="9784080" cy="822960"/>
          </a:xfrm>
          <a:prstGeom prst="roundRect">
            <a:avLst/>
          </a:prstGeom>
          <a:solidFill>
            <a:srgbClr val="0D2A4F"/>
          </a:solidFill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234438" y="5001768"/>
            <a:ext cx="822953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22D3EE"/>
                </a:solidFill>
                <a:latin typeface="Aptos"/>
              </a:rPr>
              <a:t>TEAM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09713" y="5040408"/>
            <a:ext cx="9372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400" b="1" dirty="0">
                <a:solidFill>
                  <a:srgbClr val="F8FAFC"/>
                </a:solidFill>
                <a:latin typeface="Aptos"/>
              </a:rPr>
              <a:t>TRILUX</a:t>
            </a:r>
            <a:endParaRPr sz="140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98448" y="5399976"/>
            <a:ext cx="9400032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CD1E7"/>
                </a:solidFill>
                <a:latin typeface="Aptos"/>
              </a:rPr>
              <a:t>Team Lead / Developer: Anubrata Sarker • Member 2: </a:t>
            </a:r>
            <a:r>
              <a:rPr lang="en-IN" sz="1100" dirty="0">
                <a:solidFill>
                  <a:srgbClr val="BCD1E7"/>
                </a:solidFill>
                <a:latin typeface="Aptos"/>
              </a:rPr>
              <a:t>Arkaprabha De</a:t>
            </a:r>
            <a:r>
              <a:rPr sz="1100" b="0" dirty="0">
                <a:solidFill>
                  <a:srgbClr val="BCD1E7"/>
                </a:solidFill>
                <a:latin typeface="Aptos"/>
              </a:rPr>
              <a:t> • Member 3: </a:t>
            </a:r>
            <a:r>
              <a:rPr lang="en-IN" sz="1100" dirty="0">
                <a:solidFill>
                  <a:srgbClr val="BCD1E7"/>
                </a:solidFill>
                <a:latin typeface="Aptos"/>
              </a:rPr>
              <a:t>Abhirup Goutam</a:t>
            </a:r>
            <a:endParaRPr sz="1100" b="0" dirty="0">
              <a:solidFill>
                <a:srgbClr val="BCD1E7"/>
              </a:solidFill>
              <a:latin typeface="Apto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14400" y="598932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CyberShield Police: prevention-first, explainable, ethical, and demo-ready.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895</Words>
  <Application>Microsoft Office PowerPoint</Application>
  <PresentationFormat>Widescreen</PresentationFormat>
  <Paragraphs>196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Anubrata Sarker</cp:lastModifiedBy>
  <cp:revision>4</cp:revision>
  <dcterms:created xsi:type="dcterms:W3CDTF">2013-01-27T09:14:16Z</dcterms:created>
  <dcterms:modified xsi:type="dcterms:W3CDTF">2026-06-24T06:43:08Z</dcterms:modified>
  <cp:category/>
</cp:coreProperties>
</file>